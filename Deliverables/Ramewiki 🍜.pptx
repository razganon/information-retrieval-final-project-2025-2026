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96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E7DE4-A33A-7950-FE89-E632632FECB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FC8A372-6FB1-638D-E1C1-917EDC81661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B501B43-0869-1F05-88E9-B24AC97C3A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2365-AEA1-4F1C-A6DD-ADC6F90E97A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BB7740-2CC4-78FD-1747-C17F91483A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38B02D-5F14-29A0-C3D8-CA76BC115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AF44-2352-4691-B83B-5CB77F689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3371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2F0E18-9E3C-63BD-8337-1751B27099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3662B46-106E-F440-FA62-BC87C19379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29BD64-35F9-EFC5-898E-428906FF5D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2365-AEA1-4F1C-A6DD-ADC6F90E97A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0C36A06-4F42-97B3-60F1-69FFC58E53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6CE784-70CE-39B8-24CB-4A9ECE919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AF44-2352-4691-B83B-5CB77F689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1441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DC6B26-92FA-3A36-469B-730494B71B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9B557E5-B4F4-48AC-A46D-9BF9FC343D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48527-A951-A602-CE1C-1B2D041318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2365-AEA1-4F1C-A6DD-ADC6F90E97A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8585FA-1DBC-F61C-26AC-DFAEA87A61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DA0387-13C8-366C-9159-C1F7C57440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AF44-2352-4691-B83B-5CB77F689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524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239FA6-19D5-5E45-95BE-A05507D097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B84D225-9677-93CF-1400-9468E77CAC3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CCCC82B-A4B5-B255-71E2-117050AFA3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FB034EB-DAD4-959E-0CC8-39D26A9214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2365-AEA1-4F1C-A6DD-ADC6F90E97A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82EF33-E796-93D6-47C4-C595E9AC3B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04DE99-7FF7-1FE4-ABFF-4E5CB16A1A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AF44-2352-4691-B83B-5CB77F689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264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40064-9EB1-05EB-7505-C2A7AE2C47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C58511-BF95-6547-9371-8C29ACF3C6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1DD61F3-E7D9-4AFF-F27E-7E9267404B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0EB907-4D21-EA2D-628D-0DA35CABE52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E6715BC-A46F-46FF-A2B6-FDD801E4B8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83B8F46-9913-7BED-E196-0EB921BE28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2365-AEA1-4F1C-A6DD-ADC6F90E97A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7A74A76-4E0B-D244-33B7-53BFF4A668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CDA78A6-2DF2-EF34-FEC7-C35E63A123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AF44-2352-4691-B83B-5CB77F689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89703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3084DD-B384-DDB9-E17F-D21DFB0F3D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E6BEDBE-781D-00A2-C461-AB5E05D8D7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2365-AEA1-4F1C-A6DD-ADC6F90E97A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150DF45-21E6-E05C-61C4-835239E028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448954E-41B9-F8DB-2700-47ED872157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AF44-2352-4691-B83B-5CB77F689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7094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02A59E0-C237-3E2A-E9DF-EF46C29181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2365-AEA1-4F1C-A6DD-ADC6F90E97A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91323EA-5F36-F6BB-89BD-26E88852B0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1FCD43C-679A-E100-7037-86547F7BFA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AF44-2352-4691-B83B-5CB77F689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0799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EAF710-F170-30D2-777C-BD9A88FA40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8925E-08B5-DDE9-997C-E00C9787A7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F7FFB4-6FFB-8AF0-AE86-ACE497804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3ED9E9B-F12B-26BE-18E7-B1E84FA574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2365-AEA1-4F1C-A6DD-ADC6F90E97A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2A9535-C832-D6F7-7948-02C156428D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680125-8E5D-5073-A40C-EF581854F8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AF44-2352-4691-B83B-5CB77F689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2818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AFF74A-2D93-A0C1-FCD8-213AD618A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2C1330F-3551-968B-C5D7-5CEFF00CC6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839EB8-9A62-34BD-0B62-6020EB5C03B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E835E3-2879-749B-D5D8-66DDD7F00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2365-AEA1-4F1C-A6DD-ADC6F90E97A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ACDF27-7E58-9233-BE54-6C221BB2A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8E176C-3114-2FCD-A706-5A616D699F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AF44-2352-4691-B83B-5CB77F689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07209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99515-5CA4-3C52-66BA-34C904CFFF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63B404-32CF-6A39-709C-5EB8B27A2B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7C19500-9673-3AE6-9342-DEFBDE8B27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2365-AEA1-4F1C-A6DD-ADC6F90E97A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4B5A7C-E0B2-EA03-8202-E11CFC745B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CD2251-4B14-1B42-243F-AC47B4D5F6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AF44-2352-4691-B83B-5CB77F689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5158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5C2D85D-98B0-2883-2BD8-E5F0FD7B602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6C2141-D30E-6C12-14A9-91D402C73F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3E8A1C-E04A-8A2C-3EC9-AFC512AD1A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7E2365-AEA1-4F1C-A6DD-ADC6F90E97A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AE6415-AE4F-4017-EE82-B0D69DDAB2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AA8300-27E4-CEF1-0B4E-1C8DB9BAD2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839AF44-2352-4691-B83B-5CB77F689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69534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907A5CC-2CF1-4B71-5108-85D7DC99B8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F151541-DBC8-B0B5-485D-00EE6B7AE2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042F6D-88A3-1FCA-B6A1-70E916E6A15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7E2365-AEA1-4F1C-A6DD-ADC6F90E97A7}" type="datetimeFigureOut">
              <a:rPr lang="en-US" smtClean="0"/>
              <a:t>1/18/2026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FAEEC9-BE22-8229-830B-6ADE1F96232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93A71D-D411-BAD5-E8AC-A383D4AC40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839AF44-2352-4691-B83B-5CB77F6892E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462959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934F1179-B481-4F9E-BCA3-AFB972070F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ight Triangle 18">
            <a:extLst>
              <a:ext uri="{FF2B5EF4-FFF2-40B4-BE49-F238E27FC236}">
                <a16:creationId xmlns:a16="http://schemas.microsoft.com/office/drawing/2014/main" id="{827DC2C4-B485-428A-BF4A-472D2967F4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E04B5EB-F158-4507-90DD-BD23620C7C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BB6AFB-649B-AD39-3F7A-1F386D8623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85241" y="1008993"/>
            <a:ext cx="9231410" cy="3542045"/>
          </a:xfrm>
        </p:spPr>
        <p:txBody>
          <a:bodyPr anchor="b">
            <a:normAutofit/>
          </a:bodyPr>
          <a:lstStyle/>
          <a:p>
            <a:pPr algn="l"/>
            <a:r>
              <a:rPr lang="en-US" sz="11500" dirty="0" err="1"/>
              <a:t>Ramewiki</a:t>
            </a:r>
            <a:r>
              <a:rPr lang="en-US" sz="11500" dirty="0"/>
              <a:t> 🍜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EF441A-FBA2-BF94-0CB9-E095BBCAAB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5241" y="4582814"/>
            <a:ext cx="7132335" cy="1312657"/>
          </a:xfrm>
        </p:spPr>
        <p:txBody>
          <a:bodyPr anchor="t">
            <a:normAutofit/>
          </a:bodyPr>
          <a:lstStyle/>
          <a:p>
            <a:pPr algn="l"/>
            <a:r>
              <a:rPr lang="en-US" sz="1900" dirty="0"/>
              <a:t>High-Performance Information Retrieval System on Wikipedia Data</a:t>
            </a:r>
          </a:p>
          <a:p>
            <a:pPr algn="l"/>
            <a:r>
              <a:rPr lang="en-US" sz="1900" b="1" dirty="0"/>
              <a:t>Team:</a:t>
            </a:r>
            <a:r>
              <a:rPr lang="en-US" sz="1900" dirty="0"/>
              <a:t> Raz Ganon and Bar Pesso </a:t>
            </a:r>
          </a:p>
          <a:p>
            <a:pPr algn="l"/>
            <a:r>
              <a:rPr lang="en-US" sz="1900" b="1" dirty="0"/>
              <a:t>Date:</a:t>
            </a:r>
            <a:r>
              <a:rPr lang="en-US" sz="1900" dirty="0"/>
              <a:t> January 2026</a:t>
            </a:r>
          </a:p>
        </p:txBody>
      </p:sp>
    </p:spTree>
    <p:extLst>
      <p:ext uri="{BB962C8B-B14F-4D97-AF65-F5344CB8AC3E}">
        <p14:creationId xmlns:p14="http://schemas.microsoft.com/office/powerpoint/2010/main" val="32236726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4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grpId="0" nodeType="click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4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D68F160-393D-A58B-7016-2C80629E13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r>
              <a:rPr lang="en-US" sz="4100" dirty="0"/>
              <a:t>Architecture &amp; Ranking Models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A5CE0E-75F8-DBF7-D489-D534DAD1C8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1500" b="1"/>
              <a:t>The "Ensemble" Approach</a:t>
            </a:r>
            <a:r>
              <a:rPr lang="en-US" sz="1500"/>
              <a:t> We combined five distinct ranking signals to balance relevance, popularity, and exactness:</a:t>
            </a:r>
          </a:p>
          <a:p>
            <a:r>
              <a:rPr lang="en-US" sz="1500" b="1"/>
              <a:t>Body Search:</a:t>
            </a:r>
            <a:r>
              <a:rPr lang="en-US" sz="1500"/>
              <a:t> Cosine Similarity with TF-IDF (BM25) to find deep semantic matches.</a:t>
            </a:r>
          </a:p>
          <a:p>
            <a:r>
              <a:rPr lang="en-US" sz="1500" b="1"/>
              <a:t>Title &amp; Anchor Search:</a:t>
            </a:r>
            <a:r>
              <a:rPr lang="en-US" sz="1500"/>
              <a:t> Binary Ranking to identify high-confidence matches (Weighted 10x and 3x).</a:t>
            </a:r>
          </a:p>
          <a:p>
            <a:r>
              <a:rPr lang="en-US" sz="1500" b="1"/>
              <a:t>Quality Boosters:</a:t>
            </a:r>
            <a:r>
              <a:rPr lang="en-US" sz="1500"/>
              <a:t> Integrated PageRank and PageViews as log-smoothed additive signals to surface authoritative content.</a:t>
            </a:r>
          </a:p>
          <a:p>
            <a:r>
              <a:rPr lang="en-US" sz="1500" b="1"/>
              <a:t>Tech Stack:</a:t>
            </a:r>
            <a:r>
              <a:rPr lang="en-US" sz="1500"/>
              <a:t> Python, Flask, Google Cloud Platform (GCP), Inverted Indices stored on disk (p postings).</a:t>
            </a:r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38443426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14DC299-6FEF-DDCB-15F6-B137108E3B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r>
              <a:rPr lang="en-US" sz="4100" dirty="0"/>
              <a:t>Efficiency Optimization Trials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9ABD02-361D-5A57-3999-474CBA5A3B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 fontScale="85000" lnSpcReduction="20000"/>
          </a:bodyPr>
          <a:lstStyle/>
          <a:p>
            <a:r>
              <a:rPr lang="en-US" sz="1700" b="1" dirty="0"/>
              <a:t>The Challenge:</a:t>
            </a:r>
            <a:endParaRPr lang="en-US" sz="1700" dirty="0"/>
          </a:p>
          <a:p>
            <a:r>
              <a:rPr lang="en-US" sz="1700" dirty="0"/>
              <a:t>Initial latency was </a:t>
            </a:r>
            <a:r>
              <a:rPr lang="en-US" sz="1700" b="1" dirty="0"/>
              <a:t>~3.4s</a:t>
            </a:r>
            <a:r>
              <a:rPr lang="en-US" sz="1700" dirty="0"/>
              <a:t>.</a:t>
            </a:r>
          </a:p>
          <a:p>
            <a:r>
              <a:rPr lang="en-US" sz="1700" dirty="0"/>
              <a:t>Bottleneck identified: Queries with common terms (</a:t>
            </a:r>
            <a:r>
              <a:rPr lang="en-US" sz="1700" i="1" dirty="0"/>
              <a:t>"Great Fire of London"</a:t>
            </a:r>
            <a:r>
              <a:rPr lang="en-US" sz="1700" dirty="0"/>
              <a:t>) forced the engine to read millions of posting IDs for "London" from the Anchor Index.</a:t>
            </a:r>
          </a:p>
          <a:p>
            <a:r>
              <a:rPr lang="en-US" sz="1700" b="1" dirty="0"/>
              <a:t>The Solution:</a:t>
            </a:r>
            <a:endParaRPr lang="en-US" sz="1700" dirty="0"/>
          </a:p>
          <a:p>
            <a:r>
              <a:rPr lang="en-US" sz="1700" b="1" dirty="0"/>
              <a:t>Dynamic Pruning:</a:t>
            </a:r>
            <a:r>
              <a:rPr lang="en-US" sz="1700" dirty="0"/>
              <a:t> Implemented a Document Frequency (DF) cutoff.</a:t>
            </a:r>
          </a:p>
          <a:p>
            <a:r>
              <a:rPr lang="en-US" sz="1700" b="1" dirty="0"/>
              <a:t>Logic:</a:t>
            </a:r>
            <a:r>
              <a:rPr lang="en-US" sz="1700" dirty="0"/>
              <a:t> Any term appearing in </a:t>
            </a:r>
            <a:r>
              <a:rPr lang="en-US" sz="1700" b="1" dirty="0"/>
              <a:t>&gt;500,000 documents</a:t>
            </a:r>
            <a:r>
              <a:rPr lang="en-US" sz="1700" dirty="0"/>
              <a:t> is treated as a "dynamic </a:t>
            </a:r>
            <a:r>
              <a:rPr lang="en-US" sz="1700" dirty="0" err="1"/>
              <a:t>stopword</a:t>
            </a:r>
            <a:r>
              <a:rPr lang="en-US" sz="1700" dirty="0"/>
              <a:t>" and skipped in Body, Title, and Anchor search.</a:t>
            </a:r>
          </a:p>
          <a:p>
            <a:r>
              <a:rPr lang="en-US" sz="1700" b="1" dirty="0"/>
              <a:t>Result:</a:t>
            </a:r>
            <a:r>
              <a:rPr lang="en-US" sz="1700" dirty="0"/>
              <a:t> The latency did not drop, and the precision score remained the same.</a:t>
            </a:r>
          </a:p>
          <a:p>
            <a:r>
              <a:rPr lang="en-US" sz="1700" i="1" dirty="0"/>
              <a:t>(Note: Multithreading was attempted but yielded no gain due to I/O &amp; GIL limitations).</a:t>
            </a:r>
            <a:endParaRPr lang="en-US" sz="1700" dirty="0"/>
          </a:p>
          <a:p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2441830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4" name="Rectangle 33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ight Triangle 35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B974B6-D862-FCE0-1025-A54D0E218E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5240" y="1050595"/>
            <a:ext cx="8074815" cy="1618489"/>
          </a:xfrm>
        </p:spPr>
        <p:txBody>
          <a:bodyPr anchor="ctr">
            <a:normAutofit/>
          </a:bodyPr>
          <a:lstStyle/>
          <a:p>
            <a:r>
              <a:rPr lang="en-US" sz="5000"/>
              <a:t>Quality Engineering (The "Human" Problem)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1390A8-89FD-0685-9346-BDBC96C15B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5240" y="2969469"/>
            <a:ext cx="8074815" cy="2800395"/>
          </a:xfrm>
        </p:spPr>
        <p:txBody>
          <a:bodyPr anchor="t">
            <a:normAutofit/>
          </a:bodyPr>
          <a:lstStyle/>
          <a:p>
            <a:r>
              <a:rPr lang="en-US" sz="1500" b="1"/>
              <a:t>Improving Precision for Short Queries</a:t>
            </a:r>
            <a:endParaRPr lang="en-US" sz="1500"/>
          </a:p>
          <a:p>
            <a:r>
              <a:rPr lang="en-US" sz="1500" b="1"/>
              <a:t>The Issue:</a:t>
            </a:r>
            <a:r>
              <a:rPr lang="en-US" sz="1500"/>
              <a:t> Binary ranking created thousands of ties for single-word queries ("Human").</a:t>
            </a:r>
          </a:p>
          <a:p>
            <a:r>
              <a:rPr lang="en-US" sz="1500" b="1"/>
              <a:t>The Bias:</a:t>
            </a:r>
            <a:r>
              <a:rPr lang="en-US" sz="1500"/>
              <a:t> The engine defaulted to sorting ties by PageRank, erroneously ranking "Human Development Index" (PR: 526) above the main "Human" article (PR: 383).</a:t>
            </a:r>
          </a:p>
          <a:p>
            <a:r>
              <a:rPr lang="en-US" sz="1500" b="1"/>
              <a:t>The Fix:</a:t>
            </a:r>
            <a:r>
              <a:rPr lang="en-US" sz="1500"/>
              <a:t> Implemented a </a:t>
            </a:r>
            <a:r>
              <a:rPr lang="en-US" sz="1500" b="1"/>
              <a:t>"Shortest Title" Tie-Breaker</a:t>
            </a:r>
            <a:r>
              <a:rPr lang="en-US" sz="1500"/>
              <a:t>.</a:t>
            </a:r>
          </a:p>
          <a:p>
            <a:r>
              <a:rPr lang="en-US" sz="1500" b="1"/>
              <a:t>Logic:</a:t>
            </a:r>
            <a:r>
              <a:rPr lang="en-US" sz="1500"/>
              <a:t> Sort by Score (Desc) ➔ Title Length (Asc) ➔ PageRank (Desc).</a:t>
            </a:r>
          </a:p>
          <a:p>
            <a:r>
              <a:rPr lang="en-US" sz="1500" b="1"/>
              <a:t>Outcome:</a:t>
            </a:r>
            <a:r>
              <a:rPr lang="en-US" sz="1500"/>
              <a:t> The engine now correctly identifies the exact match "Human" (5 chars) as the #1 result.</a:t>
            </a:r>
          </a:p>
          <a:p>
            <a:endParaRPr lang="en-US" sz="1500"/>
          </a:p>
        </p:txBody>
      </p:sp>
    </p:spTree>
    <p:extLst>
      <p:ext uri="{BB962C8B-B14F-4D97-AF65-F5344CB8AC3E}">
        <p14:creationId xmlns:p14="http://schemas.microsoft.com/office/powerpoint/2010/main" val="250821648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576720" y="3335867"/>
            <a:ext cx="329184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1774" y="623275"/>
            <a:ext cx="10905053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D3632F-7105-2FE1-9BB9-A45823DA8C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75767" y="1188637"/>
            <a:ext cx="2988234" cy="4480726"/>
          </a:xfrm>
        </p:spPr>
        <p:txBody>
          <a:bodyPr>
            <a:normAutofit/>
          </a:bodyPr>
          <a:lstStyle/>
          <a:p>
            <a:r>
              <a:rPr lang="en-US" sz="5100" dirty="0"/>
              <a:t>Final Evaluation Results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4296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40AE62-4651-DAA9-0778-BBC8CB2672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55260" y="1648870"/>
            <a:ext cx="4702848" cy="3560260"/>
          </a:xfrm>
        </p:spPr>
        <p:txBody>
          <a:bodyPr anchor="ctr">
            <a:normAutofit/>
          </a:bodyPr>
          <a:lstStyle/>
          <a:p>
            <a:r>
              <a:rPr lang="en-US" sz="1700" b="1"/>
              <a:t>Performance Benchmarks (Test Set)</a:t>
            </a:r>
            <a:endParaRPr lang="en-US" sz="1700"/>
          </a:p>
          <a:p>
            <a:r>
              <a:rPr lang="en-US" sz="1700" b="1"/>
              <a:t>Average Latency:</a:t>
            </a:r>
            <a:r>
              <a:rPr lang="en-US" sz="1700"/>
              <a:t> </a:t>
            </a:r>
            <a:r>
              <a:rPr lang="en-US" sz="1700" b="1"/>
              <a:t>&lt;3.5s</a:t>
            </a:r>
            <a:r>
              <a:rPr lang="en-US" sz="1700"/>
              <a:t> (Bad marks for Efficiency).</a:t>
            </a:r>
          </a:p>
          <a:p>
            <a:r>
              <a:rPr lang="en-US" sz="1700" b="1"/>
              <a:t>Precision@10:</a:t>
            </a:r>
            <a:r>
              <a:rPr lang="en-US" sz="1700"/>
              <a:t> </a:t>
            </a:r>
            <a:r>
              <a:rPr lang="en-US" sz="1700" b="1"/>
              <a:t>~0.58</a:t>
            </a:r>
            <a:r>
              <a:rPr lang="en-US" sz="1700"/>
              <a:t> (High relevance).</a:t>
            </a:r>
          </a:p>
          <a:p>
            <a:r>
              <a:rPr lang="en-US" sz="1700" b="1"/>
              <a:t>Key Takeaway:</a:t>
            </a:r>
            <a:r>
              <a:rPr lang="en-US" sz="1700"/>
              <a:t> The dominant factor in performance was </a:t>
            </a:r>
            <a:r>
              <a:rPr lang="en-US" sz="1700" b="1"/>
              <a:t>I/O minimization</a:t>
            </a:r>
            <a:r>
              <a:rPr lang="en-US" sz="1700"/>
              <a:t> (reading fewer bytes from disk) rather than CPU processing speed.</a:t>
            </a:r>
          </a:p>
          <a:p>
            <a:r>
              <a:rPr lang="en-US" sz="1700" b="1"/>
              <a:t>Future Work:</a:t>
            </a:r>
            <a:r>
              <a:rPr lang="en-US" sz="1700"/>
              <a:t> Implementing "Soft Tiers" instead of hard cutoffs to better handle queries consisting entirely of common words (e.g., </a:t>
            </a:r>
            <a:r>
              <a:rPr lang="en-US" sz="1700" i="1"/>
              <a:t>"The Who"</a:t>
            </a:r>
            <a:r>
              <a:rPr lang="en-US" sz="1700"/>
              <a:t>).</a:t>
            </a:r>
          </a:p>
          <a:p>
            <a:endParaRPr lang="en-US" sz="1700"/>
          </a:p>
        </p:txBody>
      </p:sp>
    </p:spTree>
    <p:extLst>
      <p:ext uri="{BB962C8B-B14F-4D97-AF65-F5344CB8AC3E}">
        <p14:creationId xmlns:p14="http://schemas.microsoft.com/office/powerpoint/2010/main" val="20855464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440</Words>
  <Application>Microsoft Office PowerPoint</Application>
  <PresentationFormat>Widescreen</PresentationFormat>
  <Paragraphs>32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Ramewiki 🍜</vt:lpstr>
      <vt:lpstr>Architecture &amp; Ranking Models</vt:lpstr>
      <vt:lpstr>Efficiency Optimization Trials</vt:lpstr>
      <vt:lpstr>Quality Engineering (The "Human" Problem)</vt:lpstr>
      <vt:lpstr>Final Evaluation 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רז גנון</dc:creator>
  <cp:lastModifiedBy>רז גנון</cp:lastModifiedBy>
  <cp:revision>1</cp:revision>
  <dcterms:created xsi:type="dcterms:W3CDTF">2026-01-18T15:57:06Z</dcterms:created>
  <dcterms:modified xsi:type="dcterms:W3CDTF">2026-01-18T16:00:31Z</dcterms:modified>
</cp:coreProperties>
</file>